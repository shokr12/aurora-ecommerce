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Inter" panose="02000503000000020004" pitchFamily="34" charset="0"/>
      <p:bold r:id="rId17"/>
    </p:embeddedFont>
    <p:embeddedFont>
      <p:font typeface="Inter" panose="02000503000000020004" pitchFamily="34" charset="-122"/>
      <p:bold r:id="rId18"/>
    </p:embeddedFont>
    <p:embeddedFont>
      <p:font typeface="Inter" panose="02000503000000020004" pitchFamily="34" charset="-120"/>
      <p:bold r:id="rId19"/>
    </p:embeddedFont>
    <p:embeddedFont>
      <p:font typeface="Calibri" panose="020F0502020204030204" charset="0"/>
      <p:regular r:id="rId20"/>
      <p:bold r:id="rId21"/>
      <p:italic r:id="rId22"/>
      <p:boldItalic r:id="rId23"/>
    </p:embeddedFont>
    <p:embeddedFont>
      <p:font typeface="Agency FB" panose="020B0503020202020204" charset="0"/>
      <p:regular r:id="rId24"/>
      <p:bold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6.xml"/><Relationship Id="rId10" Type="http://schemas.openxmlformats.org/officeDocument/2006/relationships/tags" Target="../tags/tag9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image" Target="../media/image11.png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image" Target="../media/image10.png"/><Relationship Id="rId19" Type="http://schemas.openxmlformats.org/officeDocument/2006/relationships/notesSlide" Target="../notesSlides/notesSlide7.xml"/><Relationship Id="rId18" Type="http://schemas.openxmlformats.org/officeDocument/2006/relationships/slideLayout" Target="../slideLayouts/slideLayout8.xml"/><Relationship Id="rId17" Type="http://schemas.openxmlformats.org/officeDocument/2006/relationships/image" Target="../media/image14.png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image" Target="../media/image13.png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image" Target="../media/image12.png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4" Type="http://schemas.openxmlformats.org/officeDocument/2006/relationships/notesSlide" Target="../notesSlides/notesSlide9.xml"/><Relationship Id="rId23" Type="http://schemas.openxmlformats.org/officeDocument/2006/relationships/slideLayout" Target="../slideLayouts/slideLayout10.xml"/><Relationship Id="rId22" Type="http://schemas.openxmlformats.org/officeDocument/2006/relationships/tags" Target="../tags/tag42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AURORA — Redefining Modern Digital Commerce</a:t>
            </a:r>
            <a:endParaRPr lang="en-US" sz="4450" dirty="0">
              <a:latin typeface="Agency FB" panose="020B0503020202020204" charset="0"/>
              <a:cs typeface="Agency FB" panose="020B0503020202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 premium, minimalist e‑commerce platform for curated lifestyle essentials. Fast, resilient, and beautifully simple — designed for shoppers who value craft, performance, and effortless discovery.</a:t>
            </a:r>
            <a:endParaRPr lang="en-US" sz="1750" dirty="0"/>
          </a:p>
        </p:txBody>
      </p:sp>
      <p:sp>
        <p:nvSpPr>
          <p:cNvPr id="5" name="Rounded Rectangle 4"/>
          <p:cNvSpPr/>
          <p:nvPr/>
        </p:nvSpPr>
        <p:spPr>
          <a:xfrm>
            <a:off x="12897485" y="7703185"/>
            <a:ext cx="1617980" cy="4241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50" y="1911985"/>
            <a:ext cx="13578205" cy="567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Vision &amp; Design Language</a:t>
            </a:r>
            <a:endParaRPr lang="en-US" sz="5400" b="1" dirty="0">
              <a:solidFill>
                <a:srgbClr val="000000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932509"/>
            <a:ext cx="1205984" cy="1507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3262" y="2932509"/>
            <a:ext cx="2669143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272525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Glassmorphism-first</a:t>
            </a:r>
            <a:endParaRPr lang="en-US" sz="3600" b="1" dirty="0">
              <a:solidFill>
                <a:srgbClr val="272525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283262" y="3777258"/>
            <a:ext cx="2669143" cy="2177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Frosted panels, subtle shadows, and layered translucency create a tactile, high-end feel that foregrounds product photography.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932509"/>
            <a:ext cx="1205984" cy="1507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25364" y="2932509"/>
            <a:ext cx="2669143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3600" b="1" dirty="0">
                <a:solidFill>
                  <a:srgbClr val="272525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Seamless Dark /</a:t>
            </a:r>
            <a:endParaRPr lang="en-US" sz="3600" b="1" dirty="0">
              <a:solidFill>
                <a:srgbClr val="272525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  <a:p>
            <a:pPr marL="0" indent="0" algn="ctr">
              <a:lnSpc>
                <a:spcPts val="2750"/>
              </a:lnSpc>
              <a:buNone/>
            </a:pPr>
            <a:r>
              <a:rPr lang="en-US" sz="3600" b="1" dirty="0">
                <a:solidFill>
                  <a:srgbClr val="272525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 Light Modes</a:t>
            </a:r>
            <a:endParaRPr lang="en-US" sz="3600" b="1" dirty="0">
              <a:solidFill>
                <a:srgbClr val="272525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725364" y="3777258"/>
            <a:ext cx="2669143" cy="25403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Native CSS variables power instantaneous theme switching with consistent color tokens for contrast, accessibility, and brand cohesion.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932509"/>
            <a:ext cx="1205984" cy="1507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67467" y="2932509"/>
            <a:ext cx="266914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Minimalist UI / UX</a:t>
            </a:r>
            <a:endParaRPr lang="en-US" sz="3200" b="1" dirty="0">
              <a:solidFill>
                <a:srgbClr val="272525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1167467" y="3422928"/>
            <a:ext cx="2669143" cy="2177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Outfit-inspired typography, deliberate whitespace, and prioritized CTAs make browsing calm, fast, and conversion-focused.</a:t>
            </a:r>
            <a:endParaRPr lang="en-US" sz="1750" dirty="0"/>
          </a:p>
        </p:txBody>
      </p:sp>
      <p:sp>
        <p:nvSpPr>
          <p:cNvPr id="12" name="Rounded Rectangle 11"/>
          <p:cNvSpPr/>
          <p:nvPr/>
        </p:nvSpPr>
        <p:spPr>
          <a:xfrm>
            <a:off x="12897485" y="7703185"/>
            <a:ext cx="1617980" cy="4241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9620" y="814626"/>
            <a:ext cx="7604760" cy="10994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Frontend Architecture — Performance &amp; Maintainability</a:t>
            </a:r>
            <a:endParaRPr lang="en-US" sz="3450" dirty="0">
              <a:latin typeface="Agency FB" panose="020B0503020202020204" charset="0"/>
              <a:cs typeface="Agency FB" panose="020B050302020202020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69620" y="2233732"/>
            <a:ext cx="2392799" cy="3348752"/>
          </a:xfrm>
          <a:prstGeom prst="roundRect">
            <a:avLst>
              <a:gd name="adj" fmla="val 386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97029" y="2461141"/>
            <a:ext cx="1937980" cy="3436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React (Vite)</a:t>
            </a:r>
            <a:endParaRPr lang="en-US" sz="2800" b="1" dirty="0">
              <a:solidFill>
                <a:srgbClr val="272525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97029" y="2932628"/>
            <a:ext cx="1937980" cy="207883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Blazing-fast builds, HMR, and lightweight bundles for a snappy shopper experience.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375541" y="2233732"/>
            <a:ext cx="2392799" cy="3348752"/>
          </a:xfrm>
          <a:prstGeom prst="roundRect">
            <a:avLst>
              <a:gd name="adj" fmla="val 386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02950" y="2461141"/>
            <a:ext cx="1937980" cy="6872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React Router (SPA)</a:t>
            </a:r>
            <a:endParaRPr lang="en-US" sz="2800" b="1" dirty="0">
              <a:solidFill>
                <a:srgbClr val="272525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02950" y="3276243"/>
            <a:ext cx="1937980" cy="207883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Fluid navigation and route-based code splitting to minimize initial load and preserve client state.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981462" y="2233732"/>
            <a:ext cx="2392918" cy="3348752"/>
          </a:xfrm>
          <a:prstGeom prst="roundRect">
            <a:avLst>
              <a:gd name="adj" fmla="val 386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08871" y="2461141"/>
            <a:ext cx="1938099" cy="6872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Lucide Iconography</a:t>
            </a:r>
            <a:endParaRPr lang="en-US" sz="3200" b="1" dirty="0">
              <a:solidFill>
                <a:srgbClr val="272525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208871" y="3276243"/>
            <a:ext cx="1938099" cy="17323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Consistent, accessible icon set optimized for vector crispness across densities.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69620" y="5795605"/>
            <a:ext cx="7604760" cy="1619250"/>
          </a:xfrm>
          <a:prstGeom prst="roundRect">
            <a:avLst>
              <a:gd name="adj" fmla="val 57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97029" y="6023015"/>
            <a:ext cx="2748796" cy="3436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React Context API</a:t>
            </a:r>
            <a:endParaRPr lang="en-US" sz="2800" b="1" dirty="0">
              <a:solidFill>
                <a:srgbClr val="272525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97029" y="6494502"/>
            <a:ext cx="7149941" cy="692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Global state for Cart &amp; Theme with local persistence and selective re-renders to reduce overhead.</a:t>
            </a:r>
            <a:endParaRPr lang="en-US" sz="1700" dirty="0"/>
          </a:p>
        </p:txBody>
      </p:sp>
      <p:sp>
        <p:nvSpPr>
          <p:cNvPr id="16" name="Rounded Rectangle 15"/>
          <p:cNvSpPr/>
          <p:nvPr/>
        </p:nvSpPr>
        <p:spPr>
          <a:xfrm>
            <a:off x="12897485" y="7703185"/>
            <a:ext cx="1617980" cy="4241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6665"/>
            <a:ext cx="10746938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Complex Frontend Features — Filtering &amp; Sorting</a:t>
            </a:r>
            <a:endParaRPr lang="en-US" sz="4000" b="1" dirty="0">
              <a:solidFill>
                <a:srgbClr val="000000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2855" y="3425309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070616"/>
            <a:ext cx="3200519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Robust Filtering Engine</a:t>
            </a:r>
            <a:endParaRPr lang="en-US" sz="2800" b="1" dirty="0">
              <a:solidFill>
                <a:srgbClr val="000000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638943" y="2651760"/>
            <a:ext cx="4205168" cy="2177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Multi-faceted, client-side + server-assisted filters: dynamic categories, size arrays per product, color/metadata tags, and numeric price-range sliders with debounce and async refinement.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5055989"/>
            <a:ext cx="324314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Real-time Sorting Logic</a:t>
            </a:r>
            <a:endParaRPr lang="en-US" sz="3200" b="1" dirty="0">
              <a:solidFill>
                <a:srgbClr val="000000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638943" y="5637133"/>
            <a:ext cx="4205168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Deterministic sorts: relevance, newest, price asc/desc, and composite scores (popularity + margin). Stable sorting preserves user context.</a:t>
            </a:r>
            <a:endParaRPr lang="en-US" sz="1750" dirty="0"/>
          </a:p>
        </p:txBody>
      </p:sp>
      <p:sp>
        <p:nvSpPr>
          <p:cNvPr id="8" name="Rounded Rectangle 7"/>
          <p:cNvSpPr/>
          <p:nvPr/>
        </p:nvSpPr>
        <p:spPr>
          <a:xfrm>
            <a:off x="12897485" y="7703185"/>
            <a:ext cx="1617980" cy="4241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33093"/>
            <a:ext cx="7556421" cy="11339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Backend Infrastructure — Scalable MVC</a:t>
            </a:r>
            <a:endParaRPr lang="en-US" sz="4000" b="1" dirty="0">
              <a:solidFill>
                <a:srgbClr val="000000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2407206"/>
            <a:ext cx="7556421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Node.js + Express implementing an enterprise-ready MVC pattern. Separation of concerns across Routes, Controllers, and Models ensures testability, maintainability, and straightforward horizontal scaling.</a:t>
            </a:r>
            <a:endParaRPr lang="en-US" sz="175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793790" y="4113967"/>
            <a:ext cx="2367558" cy="3182422"/>
          </a:xfrm>
          <a:prstGeom prst="roundRect">
            <a:avLst>
              <a:gd name="adj" fmla="val 402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>
            <p:custDataLst>
              <p:tags r:id="rId3"/>
            </p:custDataLst>
          </p:nvPr>
        </p:nvSpPr>
        <p:spPr>
          <a:xfrm>
            <a:off x="1051084" y="4371261"/>
            <a:ext cx="1852970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Routes</a:t>
            </a:r>
            <a:endParaRPr lang="en-US" sz="3200" b="1" dirty="0">
              <a:solidFill>
                <a:srgbClr val="272525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1051084" y="4861679"/>
            <a:ext cx="1852970" cy="18145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Thin adapters for authentication, product catalog, cart, checkout, and webhooks.</a:t>
            </a:r>
            <a:endParaRPr lang="en-US" sz="1750" dirty="0"/>
          </a:p>
        </p:txBody>
      </p:sp>
      <p:sp>
        <p:nvSpPr>
          <p:cNvPr id="8" name="Shape 5"/>
          <p:cNvSpPr/>
          <p:nvPr>
            <p:custDataLst>
              <p:tags r:id="rId5"/>
            </p:custDataLst>
          </p:nvPr>
        </p:nvSpPr>
        <p:spPr>
          <a:xfrm>
            <a:off x="3388162" y="4113967"/>
            <a:ext cx="2367558" cy="3182422"/>
          </a:xfrm>
          <a:prstGeom prst="roundRect">
            <a:avLst>
              <a:gd name="adj" fmla="val 402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3645456" y="4371261"/>
            <a:ext cx="1852970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Controllers</a:t>
            </a:r>
            <a:endParaRPr lang="en-US" sz="2800" b="1" dirty="0">
              <a:solidFill>
                <a:srgbClr val="272525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sp>
        <p:nvSpPr>
          <p:cNvPr id="10" name="Text 7"/>
          <p:cNvSpPr/>
          <p:nvPr>
            <p:custDataLst>
              <p:tags r:id="rId7"/>
            </p:custDataLst>
          </p:nvPr>
        </p:nvSpPr>
        <p:spPr>
          <a:xfrm>
            <a:off x="3645456" y="4861679"/>
            <a:ext cx="1852970" cy="18145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Business logic, validation, and orchestration with clear unit boundaries.</a:t>
            </a:r>
            <a:endParaRPr lang="en-US" sz="1750" dirty="0"/>
          </a:p>
        </p:txBody>
      </p:sp>
      <p:sp>
        <p:nvSpPr>
          <p:cNvPr id="11" name="Shape 8"/>
          <p:cNvSpPr/>
          <p:nvPr>
            <p:custDataLst>
              <p:tags r:id="rId8"/>
            </p:custDataLst>
          </p:nvPr>
        </p:nvSpPr>
        <p:spPr>
          <a:xfrm>
            <a:off x="5982533" y="4113967"/>
            <a:ext cx="2367558" cy="3182422"/>
          </a:xfrm>
          <a:prstGeom prst="roundRect">
            <a:avLst>
              <a:gd name="adj" fmla="val 402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>
            <p:custDataLst>
              <p:tags r:id="rId9"/>
            </p:custDataLst>
          </p:nvPr>
        </p:nvSpPr>
        <p:spPr>
          <a:xfrm>
            <a:off x="6239828" y="4371261"/>
            <a:ext cx="1852970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Models</a:t>
            </a:r>
            <a:endParaRPr lang="en-US" sz="2800" b="1" dirty="0">
              <a:solidFill>
                <a:srgbClr val="272525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sp>
        <p:nvSpPr>
          <p:cNvPr id="13" name="Text 10"/>
          <p:cNvSpPr/>
          <p:nvPr>
            <p:custDataLst>
              <p:tags r:id="rId10"/>
            </p:custDataLst>
          </p:nvPr>
        </p:nvSpPr>
        <p:spPr>
          <a:xfrm>
            <a:off x="6239828" y="4861679"/>
            <a:ext cx="1852970" cy="2177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Data access encapsulated via Mongoose with schema-driven validation and hooks.</a:t>
            </a:r>
            <a:endParaRPr lang="en-US" sz="1750" dirty="0"/>
          </a:p>
        </p:txBody>
      </p:sp>
      <p:sp>
        <p:nvSpPr>
          <p:cNvPr id="14" name="Rounded Rectangle 13"/>
          <p:cNvSpPr/>
          <p:nvPr/>
        </p:nvSpPr>
        <p:spPr>
          <a:xfrm>
            <a:off x="12897485" y="7703185"/>
            <a:ext cx="1617980" cy="4241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865584"/>
            <a:ext cx="9949458" cy="5316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Database Strategy — Resilient &amp; Schema-driven</a:t>
            </a:r>
            <a:endParaRPr lang="en-US" sz="3300" dirty="0">
              <a:latin typeface="Agency FB" panose="020B0503020202020204" charset="0"/>
              <a:cs typeface="Agency FB" panose="020B050302020202020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1544" y="3386971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1204" y="1895475"/>
            <a:ext cx="2658070" cy="332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MongoDB Atlas</a:t>
            </a:r>
            <a:endParaRPr lang="en-US" sz="2800" b="1" dirty="0">
              <a:solidFill>
                <a:srgbClr val="000000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631204" y="2427089"/>
            <a:ext cx="4262438" cy="9886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Managed cloud database with global clusters, automated backups, and performance insights.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631204" y="3615095"/>
            <a:ext cx="2658070" cy="332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Mongoose Schemas</a:t>
            </a:r>
            <a:endParaRPr lang="en-US" sz="2800" b="1" dirty="0">
              <a:solidFill>
                <a:srgbClr val="000000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631204" y="4146709"/>
            <a:ext cx="4262438" cy="9886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Explicit schemas for products, inventory, users, and orders — enabling validation, indexing, and population patterns.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31204" y="5334714"/>
            <a:ext cx="2658070" cy="332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Graceful Fallback</a:t>
            </a:r>
            <a:endParaRPr lang="en-US" sz="2800" b="1" dirty="0">
              <a:solidFill>
                <a:srgbClr val="000000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631204" y="5866328"/>
            <a:ext cx="4262438" cy="13182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Edge caching + client-side IndexedDB fallback keeps browsing and cart interactions functional during transient connectivity loss.</a:t>
            </a:r>
            <a:endParaRPr lang="en-US" sz="1650" dirty="0"/>
          </a:p>
        </p:txBody>
      </p:sp>
      <p:sp>
        <p:nvSpPr>
          <p:cNvPr id="10" name="Rounded Rectangle 9"/>
          <p:cNvSpPr/>
          <p:nvPr/>
        </p:nvSpPr>
        <p:spPr>
          <a:xfrm>
            <a:off x="12897485" y="7703185"/>
            <a:ext cx="1617980" cy="4241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3955" y="808990"/>
            <a:ext cx="13314045" cy="4457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Product Catalog &amp; Metadata</a:t>
            </a:r>
            <a:endParaRPr lang="en-US" sz="4000" b="1" dirty="0">
              <a:solidFill>
                <a:srgbClr val="000000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64074" y="1534597"/>
            <a:ext cx="1295400" cy="1295400"/>
          </a:xfrm>
          <a:prstGeom prst="rect">
            <a:avLst/>
          </a:prstGeom>
        </p:spPr>
      </p:pic>
      <p:sp>
        <p:nvSpPr>
          <p:cNvPr id="4" name="Text 1"/>
          <p:cNvSpPr/>
          <p:nvPr>
            <p:custDataLst>
              <p:tags r:id="rId3"/>
            </p:custDataLst>
          </p:nvPr>
        </p:nvSpPr>
        <p:spPr>
          <a:xfrm>
            <a:off x="1164074" y="3005138"/>
            <a:ext cx="2228612" cy="2786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Apparel</a:t>
            </a:r>
            <a:endParaRPr lang="en-US" sz="2400" b="1" dirty="0">
              <a:solidFill>
                <a:srgbClr val="272525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sp>
        <p:nvSpPr>
          <p:cNvPr id="5" name="Text 2"/>
          <p:cNvSpPr/>
          <p:nvPr>
            <p:custDataLst>
              <p:tags r:id="rId4"/>
            </p:custDataLst>
          </p:nvPr>
        </p:nvSpPr>
        <p:spPr>
          <a:xfrm>
            <a:off x="1164074" y="3367802"/>
            <a:ext cx="2944178" cy="7636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12 SKUs with size arrays (XS–XL), fit metadata, fabric tags, and color variants.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83393" y="1534597"/>
            <a:ext cx="1295400" cy="1295400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7"/>
            </p:custDataLst>
          </p:nvPr>
        </p:nvSpPr>
        <p:spPr>
          <a:xfrm>
            <a:off x="4283393" y="3005138"/>
            <a:ext cx="2228612" cy="2786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Footwear</a:t>
            </a:r>
            <a:endParaRPr lang="en-US" sz="2400" b="1" dirty="0">
              <a:solidFill>
                <a:srgbClr val="272525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sp>
        <p:nvSpPr>
          <p:cNvPr id="8" name="Text 4"/>
          <p:cNvSpPr/>
          <p:nvPr>
            <p:custDataLst>
              <p:tags r:id="rId8"/>
            </p:custDataLst>
          </p:nvPr>
        </p:nvSpPr>
        <p:spPr>
          <a:xfrm>
            <a:off x="4283393" y="3367802"/>
            <a:ext cx="2944178" cy="7636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6 SKUs with numeric sizing, width options, and stock split per warehouse.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402711" y="1534597"/>
            <a:ext cx="1295400" cy="1295400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11"/>
            </p:custDataLst>
          </p:nvPr>
        </p:nvSpPr>
        <p:spPr>
          <a:xfrm>
            <a:off x="7402711" y="3005138"/>
            <a:ext cx="2228612" cy="2786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Electronics</a:t>
            </a:r>
            <a:endParaRPr lang="en-US" sz="2800" b="1" dirty="0">
              <a:solidFill>
                <a:srgbClr val="272525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sp>
        <p:nvSpPr>
          <p:cNvPr id="11" name="Text 6"/>
          <p:cNvSpPr/>
          <p:nvPr>
            <p:custDataLst>
              <p:tags r:id="rId12"/>
            </p:custDataLst>
          </p:nvPr>
        </p:nvSpPr>
        <p:spPr>
          <a:xfrm>
            <a:off x="7402711" y="3367802"/>
            <a:ext cx="2944178" cy="7636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4 SKUs with technical metadata, warranties, and serial-level tracking.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0522029" y="1534597"/>
            <a:ext cx="1295400" cy="1295400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5"/>
            </p:custDataLst>
          </p:nvPr>
        </p:nvSpPr>
        <p:spPr>
          <a:xfrm>
            <a:off x="10522029" y="3005138"/>
            <a:ext cx="2228612" cy="2786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Bags</a:t>
            </a:r>
            <a:endParaRPr lang="en-US" sz="2800" b="1" dirty="0">
              <a:solidFill>
                <a:srgbClr val="272525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sp>
        <p:nvSpPr>
          <p:cNvPr id="14" name="Text 8"/>
          <p:cNvSpPr/>
          <p:nvPr>
            <p:custDataLst>
              <p:tags r:id="rId16"/>
            </p:custDataLst>
          </p:nvPr>
        </p:nvSpPr>
        <p:spPr>
          <a:xfrm>
            <a:off x="10522029" y="3367802"/>
            <a:ext cx="2944178" cy="7636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5 SKUs with dimensions, materials, and compartment metadata.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64074" y="4411742"/>
            <a:ext cx="1295400" cy="12954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64074" y="5882283"/>
            <a:ext cx="2228612" cy="2786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Accessories</a:t>
            </a:r>
            <a:endParaRPr lang="en-US" sz="2800" b="1" dirty="0">
              <a:solidFill>
                <a:srgbClr val="272525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1164074" y="6244947"/>
            <a:ext cx="2944178" cy="7636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5 SKUs with versatile attributes and cross-sell metadata (bundle suggestions).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1164074" y="7166253"/>
            <a:ext cx="12302133" cy="2545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Total: 32+ curated products. Every item includes dynamic metadata to support filtering, personalization, and merchandising rules.</a:t>
            </a:r>
            <a:endParaRPr lang="en-US" sz="1400" dirty="0"/>
          </a:p>
        </p:txBody>
      </p:sp>
      <p:sp>
        <p:nvSpPr>
          <p:cNvPr id="19" name="Rounded Rectangle 18"/>
          <p:cNvSpPr/>
          <p:nvPr/>
        </p:nvSpPr>
        <p:spPr>
          <a:xfrm>
            <a:off x="12897485" y="7703185"/>
            <a:ext cx="1617980" cy="4241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50" y="1299845"/>
            <a:ext cx="13837285" cy="567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Checkout &amp; Contact Integrations</a:t>
            </a:r>
            <a:endParaRPr lang="en-US" sz="4000" b="1" dirty="0">
              <a:solidFill>
                <a:srgbClr val="000000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2855" y="3425309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43351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Checkout Workflow</a:t>
            </a:r>
            <a:endParaRPr lang="en-US" sz="3200" b="1" dirty="0">
              <a:solidFill>
                <a:srgbClr val="000000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638943" y="3014663"/>
            <a:ext cx="4205168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Server-validated cart, shipping calculation, tax estimation, guest + account flows, and webhooks for order lifecycle events.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469308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Contact Us</a:t>
            </a:r>
            <a:endParaRPr lang="en-US" sz="3600" b="1" dirty="0">
              <a:solidFill>
                <a:srgbClr val="000000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638943" y="5274231"/>
            <a:ext cx="4205168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Functional contact integration with validated forms, rate-limited endpoints, and email/webhook forwarding for CRM ingestion.</a:t>
            </a:r>
            <a:endParaRPr lang="en-US" sz="1750" dirty="0"/>
          </a:p>
        </p:txBody>
      </p:sp>
      <p:sp>
        <p:nvSpPr>
          <p:cNvPr id="8" name="Rounded Rectangle 7"/>
          <p:cNvSpPr/>
          <p:nvPr/>
        </p:nvSpPr>
        <p:spPr>
          <a:xfrm>
            <a:off x="12897485" y="7703185"/>
            <a:ext cx="1617980" cy="4241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7803" y="685562"/>
            <a:ext cx="5497235" cy="5367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000000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Success Story &amp; Roadmap</a:t>
            </a:r>
            <a:endParaRPr lang="en-US" sz="3350" dirty="0">
              <a:latin typeface="Agency FB" panose="020B0503020202020204" charset="0"/>
              <a:cs typeface="Agency FB" panose="020B0503020202020204" charset="0"/>
            </a:endParaRPr>
          </a:p>
        </p:txBody>
      </p:sp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6479262" y="1527096"/>
            <a:ext cx="30480" cy="6016823"/>
          </a:xfrm>
          <a:prstGeom prst="roundRect">
            <a:avLst>
              <a:gd name="adj" fmla="val 295848"/>
            </a:avLst>
          </a:prstGeom>
          <a:solidFill>
            <a:srgbClr val="C0C1D7"/>
          </a:solidFill>
        </p:spPr>
      </p:sp>
      <p:sp>
        <p:nvSpPr>
          <p:cNvPr id="5" name="Shape 2"/>
          <p:cNvSpPr/>
          <p:nvPr>
            <p:custDataLst>
              <p:tags r:id="rId3"/>
            </p:custDataLst>
          </p:nvPr>
        </p:nvSpPr>
        <p:spPr>
          <a:xfrm>
            <a:off x="6690300" y="1753314"/>
            <a:ext cx="644009" cy="30480"/>
          </a:xfrm>
          <a:prstGeom prst="roundRect">
            <a:avLst>
              <a:gd name="adj" fmla="val 295848"/>
            </a:avLst>
          </a:prstGeom>
          <a:solidFill>
            <a:srgbClr val="C0C1D7"/>
          </a:solidFill>
        </p:spPr>
      </p:sp>
      <p:sp>
        <p:nvSpPr>
          <p:cNvPr id="6" name="Shape 3"/>
          <p:cNvSpPr/>
          <p:nvPr>
            <p:custDataLst>
              <p:tags r:id="rId4"/>
            </p:custDataLst>
          </p:nvPr>
        </p:nvSpPr>
        <p:spPr>
          <a:xfrm>
            <a:off x="6237744" y="1527096"/>
            <a:ext cx="483037" cy="483037"/>
          </a:xfrm>
          <a:prstGeom prst="roundRect">
            <a:avLst>
              <a:gd name="adj" fmla="val 1866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6318230" y="1567279"/>
            <a:ext cx="321945" cy="402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7552730" y="1600795"/>
            <a:ext cx="2683669" cy="3353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Launched MVP</a:t>
            </a:r>
            <a:endParaRPr lang="en-US" sz="3600" b="1" dirty="0">
              <a:solidFill>
                <a:srgbClr val="272525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7552730" y="2058114"/>
            <a:ext cx="6326267" cy="6684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Catalog browsing, cart, and offline resilience — validated with early users.</a:t>
            </a:r>
            <a:endParaRPr lang="en-US" sz="1650" dirty="0"/>
          </a:p>
        </p:txBody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6690300" y="3359110"/>
            <a:ext cx="644009" cy="30480"/>
          </a:xfrm>
          <a:prstGeom prst="roundRect">
            <a:avLst>
              <a:gd name="adj" fmla="val 295848"/>
            </a:avLst>
          </a:prstGeom>
          <a:solidFill>
            <a:srgbClr val="C0C1D7"/>
          </a:solidFill>
        </p:spPr>
      </p:sp>
      <p:sp>
        <p:nvSpPr>
          <p:cNvPr id="11" name="Shape 8"/>
          <p:cNvSpPr/>
          <p:nvPr>
            <p:custDataLst>
              <p:tags r:id="rId9"/>
            </p:custDataLst>
          </p:nvPr>
        </p:nvSpPr>
        <p:spPr>
          <a:xfrm>
            <a:off x="6237744" y="3132892"/>
            <a:ext cx="483037" cy="483037"/>
          </a:xfrm>
          <a:prstGeom prst="roundRect">
            <a:avLst>
              <a:gd name="adj" fmla="val 1866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>
            <p:custDataLst>
              <p:tags r:id="rId10"/>
            </p:custDataLst>
          </p:nvPr>
        </p:nvSpPr>
        <p:spPr>
          <a:xfrm>
            <a:off x="6318230" y="3173075"/>
            <a:ext cx="321945" cy="402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0"/>
          <p:cNvSpPr/>
          <p:nvPr>
            <p:custDataLst>
              <p:tags r:id="rId11"/>
            </p:custDataLst>
          </p:nvPr>
        </p:nvSpPr>
        <p:spPr>
          <a:xfrm>
            <a:off x="7552730" y="3206591"/>
            <a:ext cx="2683669" cy="3353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Optimization</a:t>
            </a:r>
            <a:endParaRPr lang="en-US" sz="3200" b="1" dirty="0">
              <a:solidFill>
                <a:srgbClr val="272525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sp>
        <p:nvSpPr>
          <p:cNvPr id="14" name="Text 11"/>
          <p:cNvSpPr/>
          <p:nvPr>
            <p:custDataLst>
              <p:tags r:id="rId12"/>
            </p:custDataLst>
          </p:nvPr>
        </p:nvSpPr>
        <p:spPr>
          <a:xfrm>
            <a:off x="7552730" y="3663910"/>
            <a:ext cx="6326267" cy="6684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Performance tuning (bundle splitting, image delivery), accessibility audit, and A/B tests for merchandising.</a:t>
            </a:r>
            <a:endParaRPr lang="en-US" sz="1650" dirty="0"/>
          </a:p>
        </p:txBody>
      </p:sp>
      <p:sp>
        <p:nvSpPr>
          <p:cNvPr id="15" name="Shape 12"/>
          <p:cNvSpPr/>
          <p:nvPr>
            <p:custDataLst>
              <p:tags r:id="rId13"/>
            </p:custDataLst>
          </p:nvPr>
        </p:nvSpPr>
        <p:spPr>
          <a:xfrm>
            <a:off x="6690300" y="4964906"/>
            <a:ext cx="644009" cy="30480"/>
          </a:xfrm>
          <a:prstGeom prst="roundRect">
            <a:avLst>
              <a:gd name="adj" fmla="val 295848"/>
            </a:avLst>
          </a:prstGeom>
          <a:solidFill>
            <a:srgbClr val="C0C1D7"/>
          </a:solidFill>
        </p:spPr>
      </p:sp>
      <p:sp>
        <p:nvSpPr>
          <p:cNvPr id="16" name="Shape 13"/>
          <p:cNvSpPr/>
          <p:nvPr>
            <p:custDataLst>
              <p:tags r:id="rId14"/>
            </p:custDataLst>
          </p:nvPr>
        </p:nvSpPr>
        <p:spPr>
          <a:xfrm>
            <a:off x="6237744" y="4738688"/>
            <a:ext cx="483037" cy="483037"/>
          </a:xfrm>
          <a:prstGeom prst="roundRect">
            <a:avLst>
              <a:gd name="adj" fmla="val 1866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7" name="Text 14"/>
          <p:cNvSpPr/>
          <p:nvPr>
            <p:custDataLst>
              <p:tags r:id="rId15"/>
            </p:custDataLst>
          </p:nvPr>
        </p:nvSpPr>
        <p:spPr>
          <a:xfrm>
            <a:off x="6318230" y="4778871"/>
            <a:ext cx="321945" cy="402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500" dirty="0"/>
          </a:p>
        </p:txBody>
      </p:sp>
      <p:sp>
        <p:nvSpPr>
          <p:cNvPr id="18" name="Text 15"/>
          <p:cNvSpPr/>
          <p:nvPr>
            <p:custDataLst>
              <p:tags r:id="rId16"/>
            </p:custDataLst>
          </p:nvPr>
        </p:nvSpPr>
        <p:spPr>
          <a:xfrm>
            <a:off x="7552730" y="4812387"/>
            <a:ext cx="2683669" cy="3353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Next: Payments</a:t>
            </a:r>
            <a:endParaRPr lang="en-US" sz="3200" b="1" dirty="0">
              <a:solidFill>
                <a:srgbClr val="272525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sp>
        <p:nvSpPr>
          <p:cNvPr id="19" name="Text 16"/>
          <p:cNvSpPr/>
          <p:nvPr>
            <p:custDataLst>
              <p:tags r:id="rId17"/>
            </p:custDataLst>
          </p:nvPr>
        </p:nvSpPr>
        <p:spPr>
          <a:xfrm>
            <a:off x="7552730" y="5269706"/>
            <a:ext cx="6326267" cy="6684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Integrate Stripe API for live payments, SCA support, subscriptions, and disputes handling.</a:t>
            </a:r>
            <a:endParaRPr lang="en-US" sz="1650" dirty="0"/>
          </a:p>
        </p:txBody>
      </p:sp>
      <p:sp>
        <p:nvSpPr>
          <p:cNvPr id="20" name="Shape 17"/>
          <p:cNvSpPr/>
          <p:nvPr>
            <p:custDataLst>
              <p:tags r:id="rId18"/>
            </p:custDataLst>
          </p:nvPr>
        </p:nvSpPr>
        <p:spPr>
          <a:xfrm>
            <a:off x="6690300" y="6570702"/>
            <a:ext cx="644009" cy="30480"/>
          </a:xfrm>
          <a:prstGeom prst="roundRect">
            <a:avLst>
              <a:gd name="adj" fmla="val 295848"/>
            </a:avLst>
          </a:prstGeom>
          <a:solidFill>
            <a:srgbClr val="C0C1D7"/>
          </a:solidFill>
        </p:spPr>
      </p:sp>
      <p:sp>
        <p:nvSpPr>
          <p:cNvPr id="21" name="Shape 18"/>
          <p:cNvSpPr/>
          <p:nvPr>
            <p:custDataLst>
              <p:tags r:id="rId19"/>
            </p:custDataLst>
          </p:nvPr>
        </p:nvSpPr>
        <p:spPr>
          <a:xfrm>
            <a:off x="6237744" y="6344483"/>
            <a:ext cx="483037" cy="483037"/>
          </a:xfrm>
          <a:prstGeom prst="roundRect">
            <a:avLst>
              <a:gd name="adj" fmla="val 1866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2" name="Text 19"/>
          <p:cNvSpPr/>
          <p:nvPr>
            <p:custDataLst>
              <p:tags r:id="rId20"/>
            </p:custDataLst>
          </p:nvPr>
        </p:nvSpPr>
        <p:spPr>
          <a:xfrm>
            <a:off x="6318230" y="6384667"/>
            <a:ext cx="321945" cy="402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500" dirty="0"/>
          </a:p>
        </p:txBody>
      </p:sp>
      <p:sp>
        <p:nvSpPr>
          <p:cNvPr id="23" name="Text 20"/>
          <p:cNvSpPr/>
          <p:nvPr>
            <p:custDataLst>
              <p:tags r:id="rId21"/>
            </p:custDataLst>
          </p:nvPr>
        </p:nvSpPr>
        <p:spPr>
          <a:xfrm>
            <a:off x="7552730" y="6418183"/>
            <a:ext cx="3076337" cy="3353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Scale &amp; Internationalize</a:t>
            </a:r>
            <a:endParaRPr lang="en-US" sz="3200" b="1" dirty="0">
              <a:solidFill>
                <a:srgbClr val="272525"/>
              </a:solidFill>
              <a:latin typeface="Agency FB" panose="020B0503020202020204" charset="0"/>
              <a:ea typeface="Inter Bold" pitchFamily="34" charset="-122"/>
              <a:cs typeface="Agency FB" panose="020B0503020202020204" charset="0"/>
            </a:endParaRPr>
          </a:p>
        </p:txBody>
      </p:sp>
      <p:sp>
        <p:nvSpPr>
          <p:cNvPr id="24" name="Text 21"/>
          <p:cNvSpPr/>
          <p:nvPr>
            <p:custDataLst>
              <p:tags r:id="rId22"/>
            </p:custDataLst>
          </p:nvPr>
        </p:nvSpPr>
        <p:spPr>
          <a:xfrm>
            <a:off x="7552730" y="6875502"/>
            <a:ext cx="6326267" cy="6684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Multi-region DB, localized catalogs, currency support, and SOC-compliant ops for enterprise clients.</a:t>
            </a:r>
            <a:endParaRPr lang="en-US" sz="1650" dirty="0"/>
          </a:p>
        </p:txBody>
      </p:sp>
      <p:sp>
        <p:nvSpPr>
          <p:cNvPr id="25" name="Rounded Rectangle 24"/>
          <p:cNvSpPr/>
          <p:nvPr/>
        </p:nvSpPr>
        <p:spPr>
          <a:xfrm>
            <a:off x="12897485" y="7703185"/>
            <a:ext cx="1617980" cy="4241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15685"/>
            <a:ext cx="6379012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Agency FB" panose="020B0503020202020204" charset="0"/>
                <a:ea typeface="Inter Bold" pitchFamily="34" charset="-122"/>
                <a:cs typeface="Agency FB" panose="020B0503020202020204" charset="0"/>
              </a:rPr>
              <a:t>Key Takeaways &amp; Next Steps</a:t>
            </a:r>
            <a:endParaRPr lang="en-US" sz="3550" dirty="0">
              <a:latin typeface="Agency FB" panose="020B0503020202020204" charset="0"/>
              <a:cs typeface="Agency FB" panose="020B0503020202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1622822"/>
            <a:ext cx="7556421" cy="39462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Design: Glassmorphism + Outfit typography for a distinctive, premium experience.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Frontend: React + Vite, Context for Cart/Theme, deterministic filtering &amp; sorting.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Backend: Node/Express MVC with Mongoose and MongoDB Atlas for scale and resiliency.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Product: 32+ SKUs across 5 categories with rich metadata to power discovery.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Roadmap: Stripe integration, internationalization, and enterprise readiness.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824180"/>
            <a:ext cx="7556421" cy="1689616"/>
          </a:xfrm>
          <a:prstGeom prst="roundRect">
            <a:avLst>
              <a:gd name="adj" fmla="val 5638"/>
            </a:avLst>
          </a:prstGeom>
          <a:solidFill>
            <a:srgbClr val="C7C9EA"/>
          </a:solidFill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04" y="6168271"/>
            <a:ext cx="28348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30906" y="6107668"/>
            <a:ext cx="659249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Ready to demo a working flow? Proposal: 4-week sprint to integrate Stripe payments, add analytics, and run a high-conversion UX pass.</a:t>
            </a:r>
            <a:endParaRPr lang="en-US" sz="1750" dirty="0"/>
          </a:p>
        </p:txBody>
      </p:sp>
      <p:sp>
        <p:nvSpPr>
          <p:cNvPr id="8" name="Rounded Rectangle 7"/>
          <p:cNvSpPr/>
          <p:nvPr/>
        </p:nvSpPr>
        <p:spPr>
          <a:xfrm>
            <a:off x="12897485" y="7703185"/>
            <a:ext cx="1617980" cy="4241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0.58440944881892,&quot;left&quot;:62.50314960629921,&quot;top&quot;:323.9344094488189,&quot;width&quot;:594.9843307086614}"/>
</p:tagLst>
</file>

<file path=ppt/tags/tag2.xml><?xml version="1.0" encoding="utf-8"?>
<p:tagLst xmlns:p="http://schemas.openxmlformats.org/presentationml/2006/main">
  <p:tag name="KSO_WM_DIAGRAM_VIRTUALLY_FRAME" val="{&quot;height&quot;:250.58440944881892,&quot;left&quot;:62.50314960629921,&quot;top&quot;:323.9344094488189,&quot;width&quot;:594.9843307086614}"/>
</p:tagLst>
</file>

<file path=ppt/tags/tag3.xml><?xml version="1.0" encoding="utf-8"?>
<p:tagLst xmlns:p="http://schemas.openxmlformats.org/presentationml/2006/main">
  <p:tag name="KSO_WM_DIAGRAM_VIRTUALLY_FRAME" val="{&quot;height&quot;:250.58440944881892,&quot;left&quot;:62.50314960629921,&quot;top&quot;:323.9344094488189,&quot;width&quot;:594.9843307086614}"/>
</p:tagLst>
</file>

<file path=ppt/tags/tag4.xml><?xml version="1.0" encoding="utf-8"?>
<p:tagLst xmlns:p="http://schemas.openxmlformats.org/presentationml/2006/main">
  <p:tag name="KSO_WM_DIAGRAM_VIRTUALLY_FRAME" val="{&quot;height&quot;:250.58440944881892,&quot;left&quot;:62.50314960629921,&quot;top&quot;:323.9344094488189,&quot;width&quot;:594.9843307086614}"/>
</p:tagLst>
</file>

<file path=ppt/tags/tag5.xml><?xml version="1.0" encoding="utf-8"?>
<p:tagLst xmlns:p="http://schemas.openxmlformats.org/presentationml/2006/main">
  <p:tag name="KSO_WM_DIAGRAM_VIRTUALLY_FRAME" val="{&quot;height&quot;:250.58440944881892,&quot;left&quot;:62.50314960629921,&quot;top&quot;:323.9344094488189,&quot;width&quot;:594.9843307086614}"/>
</p:tagLst>
</file>

<file path=ppt/tags/tag6.xml><?xml version="1.0" encoding="utf-8"?>
<p:tagLst xmlns:p="http://schemas.openxmlformats.org/presentationml/2006/main">
  <p:tag name="KSO_WM_DIAGRAM_VIRTUALLY_FRAME" val="{&quot;height&quot;:250.58440944881892,&quot;left&quot;:62.50314960629921,&quot;top&quot;:323.9344094488189,&quot;width&quot;:594.9843307086614}"/>
</p:tagLst>
</file>

<file path=ppt/tags/tag7.xml><?xml version="1.0" encoding="utf-8"?>
<p:tagLst xmlns:p="http://schemas.openxmlformats.org/presentationml/2006/main">
  <p:tag name="KSO_WM_DIAGRAM_VIRTUALLY_FRAME" val="{&quot;height&quot;:250.58440944881892,&quot;left&quot;:62.50314960629921,&quot;top&quot;:323.9344094488189,&quot;width&quot;:594.9843307086614}"/>
</p:tagLst>
</file>

<file path=ppt/tags/tag8.xml><?xml version="1.0" encoding="utf-8"?>
<p:tagLst xmlns:p="http://schemas.openxmlformats.org/presentationml/2006/main">
  <p:tag name="KSO_WM_DIAGRAM_VIRTUALLY_FRAME" val="{&quot;height&quot;:250.58440944881892,&quot;left&quot;:62.50314960629921,&quot;top&quot;:323.9344094488189,&quot;width&quot;:594.9843307086614}"/>
</p:tagLst>
</file>

<file path=ppt/tags/tag9.xml><?xml version="1.0" encoding="utf-8"?>
<p:tagLst xmlns:p="http://schemas.openxmlformats.org/presentationml/2006/main">
  <p:tag name="KSO_WM_DIAGRAM_VIRTUALLY_FRAME" val="{&quot;height&quot;:250.58440944881892,&quot;left&quot;:62.50314960629921,&quot;top&quot;:323.9344094488189,&quot;width&quot;:594.9843307086614}"/>
</p:tagLst>
</file>

<file path=ppt/tags/tag10.xml><?xml version="1.0" encoding="utf-8"?>
<p:tagLst xmlns:p="http://schemas.openxmlformats.org/presentationml/2006/main">
  <p:tag name="KSO_WM_DIAGRAM_VIRTUALLY_FRAME" val="{&quot;height&quot;:204.4781102362205,&quot;left&quot;:91.65937007874015,&quot;top&quot;:120.8344094488189,&quot;width&quot;:968.6718897637795}"/>
</p:tagLst>
</file>

<file path=ppt/tags/tag11.xml><?xml version="1.0" encoding="utf-8"?>
<p:tagLst xmlns:p="http://schemas.openxmlformats.org/presentationml/2006/main">
  <p:tag name="KSO_WM_DIAGRAM_VIRTUALLY_FRAME" val="{&quot;height&quot;:204.4781102362205,&quot;left&quot;:91.65937007874015,&quot;top&quot;:120.8344094488189,&quot;width&quot;:968.6718897637795}"/>
</p:tagLst>
</file>

<file path=ppt/tags/tag12.xml><?xml version="1.0" encoding="utf-8"?>
<p:tagLst xmlns:p="http://schemas.openxmlformats.org/presentationml/2006/main">
  <p:tag name="KSO_WM_DIAGRAM_VIRTUALLY_FRAME" val="{&quot;height&quot;:204.4781102362205,&quot;left&quot;:91.65937007874015,&quot;top&quot;:120.8344094488189,&quot;width&quot;:968.6718897637795}"/>
</p:tagLst>
</file>

<file path=ppt/tags/tag13.xml><?xml version="1.0" encoding="utf-8"?>
<p:tagLst xmlns:p="http://schemas.openxmlformats.org/presentationml/2006/main">
  <p:tag name="KSO_WM_DIAGRAM_VIRTUALLY_FRAME" val="{&quot;height&quot;:204.4781102362205,&quot;left&quot;:91.65937007874015,&quot;top&quot;:120.8344094488189,&quot;width&quot;:968.6718897637795}"/>
</p:tagLst>
</file>

<file path=ppt/tags/tag14.xml><?xml version="1.0" encoding="utf-8"?>
<p:tagLst xmlns:p="http://schemas.openxmlformats.org/presentationml/2006/main">
  <p:tag name="KSO_WM_DIAGRAM_VIRTUALLY_FRAME" val="{&quot;height&quot;:204.4781102362205,&quot;left&quot;:91.65937007874015,&quot;top&quot;:120.8344094488189,&quot;width&quot;:968.6718897637795}"/>
</p:tagLst>
</file>

<file path=ppt/tags/tag15.xml><?xml version="1.0" encoding="utf-8"?>
<p:tagLst xmlns:p="http://schemas.openxmlformats.org/presentationml/2006/main">
  <p:tag name="KSO_WM_DIAGRAM_VIRTUALLY_FRAME" val="{&quot;height&quot;:204.4781102362205,&quot;left&quot;:91.65937007874015,&quot;top&quot;:120.8344094488189,&quot;width&quot;:968.6718897637795}"/>
</p:tagLst>
</file>

<file path=ppt/tags/tag16.xml><?xml version="1.0" encoding="utf-8"?>
<p:tagLst xmlns:p="http://schemas.openxmlformats.org/presentationml/2006/main">
  <p:tag name="KSO_WM_DIAGRAM_VIRTUALLY_FRAME" val="{&quot;height&quot;:204.4781102362205,&quot;left&quot;:91.65937007874015,&quot;top&quot;:120.8344094488189,&quot;width&quot;:968.6718897637795}"/>
</p:tagLst>
</file>

<file path=ppt/tags/tag17.xml><?xml version="1.0" encoding="utf-8"?>
<p:tagLst xmlns:p="http://schemas.openxmlformats.org/presentationml/2006/main">
  <p:tag name="KSO_WM_DIAGRAM_VIRTUALLY_FRAME" val="{&quot;height&quot;:204.4781102362205,&quot;left&quot;:91.65937007874015,&quot;top&quot;:120.8344094488189,&quot;width&quot;:968.6718897637795}"/>
</p:tagLst>
</file>

<file path=ppt/tags/tag18.xml><?xml version="1.0" encoding="utf-8"?>
<p:tagLst xmlns:p="http://schemas.openxmlformats.org/presentationml/2006/main">
  <p:tag name="KSO_WM_DIAGRAM_VIRTUALLY_FRAME" val="{&quot;height&quot;:204.4781102362205,&quot;left&quot;:91.65937007874015,&quot;top&quot;:120.8344094488189,&quot;width&quot;:968.6718897637795}"/>
</p:tagLst>
</file>

<file path=ppt/tags/tag19.xml><?xml version="1.0" encoding="utf-8"?>
<p:tagLst xmlns:p="http://schemas.openxmlformats.org/presentationml/2006/main">
  <p:tag name="KSO_WM_DIAGRAM_VIRTUALLY_FRAME" val="{&quot;height&quot;:204.4781102362205,&quot;left&quot;:91.65937007874015,&quot;top&quot;:120.8344094488189,&quot;width&quot;:968.6718897637795}"/>
</p:tagLst>
</file>

<file path=ppt/tags/tag20.xml><?xml version="1.0" encoding="utf-8"?>
<p:tagLst xmlns:p="http://schemas.openxmlformats.org/presentationml/2006/main">
  <p:tag name="KSO_WM_DIAGRAM_VIRTUALLY_FRAME" val="{&quot;height&quot;:204.4781102362205,&quot;left&quot;:91.65937007874015,&quot;top&quot;:120.8344094488189,&quot;width&quot;:968.6718897637795}"/>
</p:tagLst>
</file>

<file path=ppt/tags/tag21.xml><?xml version="1.0" encoding="utf-8"?>
<p:tagLst xmlns:p="http://schemas.openxmlformats.org/presentationml/2006/main">
  <p:tag name="KSO_WM_DIAGRAM_VIRTUALLY_FRAME" val="{&quot;height&quot;:204.4781102362205,&quot;left&quot;:91.65937007874015,&quot;top&quot;:120.8344094488189,&quot;width&quot;:968.6718897637795}"/>
</p:tagLst>
</file>

<file path=ppt/tags/tag22.xml><?xml version="1.0" encoding="utf-8"?>
<p:tagLst xmlns:p="http://schemas.openxmlformats.org/presentationml/2006/main">
  <p:tag name="KSO_WM_DIAGRAM_VIRTUALLY_FRAME" val="{&quot;height&quot;:473.76559055118116,&quot;left&quot;:491.16094488188975,&quot;top&quot;:120.24377952755906,&quot;width&quot;:601.673464566929}"/>
</p:tagLst>
</file>

<file path=ppt/tags/tag23.xml><?xml version="1.0" encoding="utf-8"?>
<p:tagLst xmlns:p="http://schemas.openxmlformats.org/presentationml/2006/main">
  <p:tag name="KSO_WM_DIAGRAM_VIRTUALLY_FRAME" val="{&quot;height&quot;:473.76559055118116,&quot;left&quot;:491.16094488188975,&quot;top&quot;:120.24377952755906,&quot;width&quot;:601.673464566929}"/>
</p:tagLst>
</file>

<file path=ppt/tags/tag24.xml><?xml version="1.0" encoding="utf-8"?>
<p:tagLst xmlns:p="http://schemas.openxmlformats.org/presentationml/2006/main">
  <p:tag name="KSO_WM_DIAGRAM_VIRTUALLY_FRAME" val="{&quot;height&quot;:473.76559055118116,&quot;left&quot;:491.16094488188975,&quot;top&quot;:120.24377952755906,&quot;width&quot;:601.673464566929}"/>
</p:tagLst>
</file>

<file path=ppt/tags/tag25.xml><?xml version="1.0" encoding="utf-8"?>
<p:tagLst xmlns:p="http://schemas.openxmlformats.org/presentationml/2006/main">
  <p:tag name="KSO_WM_DIAGRAM_VIRTUALLY_FRAME" val="{&quot;height&quot;:473.76559055118116,&quot;left&quot;:491.16094488188975,&quot;top&quot;:120.24377952755906,&quot;width&quot;:601.673464566929}"/>
</p:tagLst>
</file>

<file path=ppt/tags/tag26.xml><?xml version="1.0" encoding="utf-8"?>
<p:tagLst xmlns:p="http://schemas.openxmlformats.org/presentationml/2006/main">
  <p:tag name="KSO_WM_DIAGRAM_VIRTUALLY_FRAME" val="{&quot;height&quot;:473.76559055118116,&quot;left&quot;:491.16094488188975,&quot;top&quot;:120.24377952755906,&quot;width&quot;:601.673464566929}"/>
</p:tagLst>
</file>

<file path=ppt/tags/tag27.xml><?xml version="1.0" encoding="utf-8"?>
<p:tagLst xmlns:p="http://schemas.openxmlformats.org/presentationml/2006/main">
  <p:tag name="KSO_WM_DIAGRAM_VIRTUALLY_FRAME" val="{&quot;height&quot;:473.76559055118116,&quot;left&quot;:491.16094488188975,&quot;top&quot;:120.24377952755906,&quot;width&quot;:601.673464566929}"/>
</p:tagLst>
</file>

<file path=ppt/tags/tag28.xml><?xml version="1.0" encoding="utf-8"?>
<p:tagLst xmlns:p="http://schemas.openxmlformats.org/presentationml/2006/main">
  <p:tag name="KSO_WM_DIAGRAM_VIRTUALLY_FRAME" val="{&quot;height&quot;:473.76559055118116,&quot;left&quot;:491.16094488188975,&quot;top&quot;:120.24377952755906,&quot;width&quot;:601.673464566929}"/>
</p:tagLst>
</file>

<file path=ppt/tags/tag29.xml><?xml version="1.0" encoding="utf-8"?>
<p:tagLst xmlns:p="http://schemas.openxmlformats.org/presentationml/2006/main">
  <p:tag name="KSO_WM_DIAGRAM_VIRTUALLY_FRAME" val="{&quot;height&quot;:473.76559055118116,&quot;left&quot;:491.16094488188975,&quot;top&quot;:120.24377952755906,&quot;width&quot;:601.673464566929}"/>
</p:tagLst>
</file>

<file path=ppt/tags/tag30.xml><?xml version="1.0" encoding="utf-8"?>
<p:tagLst xmlns:p="http://schemas.openxmlformats.org/presentationml/2006/main">
  <p:tag name="KSO_WM_DIAGRAM_VIRTUALLY_FRAME" val="{&quot;height&quot;:473.76559055118116,&quot;left&quot;:491.16094488188975,&quot;top&quot;:120.24377952755906,&quot;width&quot;:601.673464566929}"/>
</p:tagLst>
</file>

<file path=ppt/tags/tag31.xml><?xml version="1.0" encoding="utf-8"?>
<p:tagLst xmlns:p="http://schemas.openxmlformats.org/presentationml/2006/main">
  <p:tag name="KSO_WM_DIAGRAM_VIRTUALLY_FRAME" val="{&quot;height&quot;:473.76559055118116,&quot;left&quot;:491.16094488188975,&quot;top&quot;:120.24377952755906,&quot;width&quot;:601.673464566929}"/>
</p:tagLst>
</file>

<file path=ppt/tags/tag32.xml><?xml version="1.0" encoding="utf-8"?>
<p:tagLst xmlns:p="http://schemas.openxmlformats.org/presentationml/2006/main">
  <p:tag name="KSO_WM_DIAGRAM_VIRTUALLY_FRAME" val="{&quot;height&quot;:473.76559055118116,&quot;left&quot;:491.16094488188975,&quot;top&quot;:120.24377952755906,&quot;width&quot;:601.673464566929}"/>
</p:tagLst>
</file>

<file path=ppt/tags/tag33.xml><?xml version="1.0" encoding="utf-8"?>
<p:tagLst xmlns:p="http://schemas.openxmlformats.org/presentationml/2006/main">
  <p:tag name="KSO_WM_DIAGRAM_VIRTUALLY_FRAME" val="{&quot;height&quot;:473.76559055118116,&quot;left&quot;:491.16094488188975,&quot;top&quot;:120.24377952755906,&quot;width&quot;:601.673464566929}"/>
</p:tagLst>
</file>

<file path=ppt/tags/tag34.xml><?xml version="1.0" encoding="utf-8"?>
<p:tagLst xmlns:p="http://schemas.openxmlformats.org/presentationml/2006/main">
  <p:tag name="KSO_WM_DIAGRAM_VIRTUALLY_FRAME" val="{&quot;height&quot;:473.76559055118116,&quot;left&quot;:491.16094488188975,&quot;top&quot;:120.24377952755906,&quot;width&quot;:601.673464566929}"/>
</p:tagLst>
</file>

<file path=ppt/tags/tag35.xml><?xml version="1.0" encoding="utf-8"?>
<p:tagLst xmlns:p="http://schemas.openxmlformats.org/presentationml/2006/main">
  <p:tag name="KSO_WM_DIAGRAM_VIRTUALLY_FRAME" val="{&quot;height&quot;:473.76559055118116,&quot;left&quot;:491.16094488188975,&quot;top&quot;:120.24377952755906,&quot;width&quot;:601.673464566929}"/>
</p:tagLst>
</file>

<file path=ppt/tags/tag36.xml><?xml version="1.0" encoding="utf-8"?>
<p:tagLst xmlns:p="http://schemas.openxmlformats.org/presentationml/2006/main">
  <p:tag name="KSO_WM_DIAGRAM_VIRTUALLY_FRAME" val="{&quot;height&quot;:473.76559055118116,&quot;left&quot;:491.16094488188975,&quot;top&quot;:120.24377952755906,&quot;width&quot;:601.673464566929}"/>
</p:tagLst>
</file>

<file path=ppt/tags/tag37.xml><?xml version="1.0" encoding="utf-8"?>
<p:tagLst xmlns:p="http://schemas.openxmlformats.org/presentationml/2006/main">
  <p:tag name="KSO_WM_DIAGRAM_VIRTUALLY_FRAME" val="{&quot;height&quot;:473.76559055118116,&quot;left&quot;:491.16094488188975,&quot;top&quot;:120.24377952755906,&quot;width&quot;:601.673464566929}"/>
</p:tagLst>
</file>

<file path=ppt/tags/tag38.xml><?xml version="1.0" encoding="utf-8"?>
<p:tagLst xmlns:p="http://schemas.openxmlformats.org/presentationml/2006/main">
  <p:tag name="KSO_WM_DIAGRAM_VIRTUALLY_FRAME" val="{&quot;height&quot;:473.76559055118116,&quot;left&quot;:491.16094488188975,&quot;top&quot;:120.24377952755906,&quot;width&quot;:601.673464566929}"/>
</p:tagLst>
</file>

<file path=ppt/tags/tag39.xml><?xml version="1.0" encoding="utf-8"?>
<p:tagLst xmlns:p="http://schemas.openxmlformats.org/presentationml/2006/main">
  <p:tag name="KSO_WM_DIAGRAM_VIRTUALLY_FRAME" val="{&quot;height&quot;:473.76559055118116,&quot;left&quot;:491.16094488188975,&quot;top&quot;:120.24377952755906,&quot;width&quot;:601.673464566929}"/>
</p:tagLst>
</file>

<file path=ppt/tags/tag40.xml><?xml version="1.0" encoding="utf-8"?>
<p:tagLst xmlns:p="http://schemas.openxmlformats.org/presentationml/2006/main">
  <p:tag name="KSO_WM_DIAGRAM_VIRTUALLY_FRAME" val="{&quot;height&quot;:473.76559055118116,&quot;left&quot;:491.16094488188975,&quot;top&quot;:120.24377952755906,&quot;width&quot;:601.673464566929}"/>
</p:tagLst>
</file>

<file path=ppt/tags/tag41.xml><?xml version="1.0" encoding="utf-8"?>
<p:tagLst xmlns:p="http://schemas.openxmlformats.org/presentationml/2006/main">
  <p:tag name="KSO_WM_DIAGRAM_VIRTUALLY_FRAME" val="{&quot;height&quot;:473.76559055118116,&quot;left&quot;:491.16094488188975,&quot;top&quot;:120.24377952755906,&quot;width&quot;:601.673464566929}"/>
</p:tagLst>
</file>

<file path=ppt/tags/tag42.xml><?xml version="1.0" encoding="utf-8"?>
<p:tagLst xmlns:p="http://schemas.openxmlformats.org/presentationml/2006/main">
  <p:tag name="KSO_WM_DIAGRAM_VIRTUALLY_FRAME" val="{&quot;height&quot;:473.76559055118116,&quot;left&quot;:491.16094488188975,&quot;top&quot;:120.24377952755906,&quot;width&quot;:601.6734645669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4403</Words>
  <Application>WPS Presentation</Application>
  <PresentationFormat>On-screen Show (16:9)</PresentationFormat>
  <Paragraphs>147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0" baseType="lpstr">
      <vt:lpstr>Arial</vt:lpstr>
      <vt:lpstr>SimSun</vt:lpstr>
      <vt:lpstr>Wingdings</vt:lpstr>
      <vt:lpstr>Inter Bold</vt:lpstr>
      <vt:lpstr>AMGDT</vt:lpstr>
      <vt:lpstr>Inter Bold</vt:lpstr>
      <vt:lpstr>Inter Bold</vt:lpstr>
      <vt:lpstr>Inter</vt:lpstr>
      <vt:lpstr>Inter</vt:lpstr>
      <vt:lpstr>Inter</vt:lpstr>
      <vt:lpstr>Calibri</vt:lpstr>
      <vt:lpstr>Microsoft YaHei</vt:lpstr>
      <vt:lpstr>Arial Unicode MS</vt:lpstr>
      <vt:lpstr>MingLiU-ExtB</vt:lpstr>
      <vt:lpstr>AcadEref</vt:lpstr>
      <vt:lpstr>Calibri Light</vt:lpstr>
      <vt:lpstr>Agency FB</vt:lpstr>
      <vt:lpstr>Aldhabi</vt:lpstr>
      <vt:lpstr>Algerian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mshok</cp:lastModifiedBy>
  <cp:revision>2</cp:revision>
  <dcterms:created xsi:type="dcterms:W3CDTF">2026-03-18T10:45:00Z</dcterms:created>
  <dcterms:modified xsi:type="dcterms:W3CDTF">2026-03-18T11:07:17Z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1B856B04B53A49C4BC454E09DC7F56FB_12</vt:lpwstr>
  </property>
  <property fmtid="{D5CDD505-2E9C-101B-9397-08002B2CF9AE}" pid="3" name="KSOProductBuildVer">
    <vt:lpwstr>1033-12.2.0.23196</vt:lpwstr>
  </property>
</Properties>
</file>